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deck is written to be read without a presenter. Read each slide top to bottom.</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slide short. The point is the timing of the cost: after, instead of before.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differentiating claim is reproducibility plus sovereignty. Say both.</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coverage figures, not proof of savings. Do not present them as outcomes.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Rehearse this click order once before the meeting. Nothing here depends on connectivity.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Stress that the output is written for a human to read, challenge and act on.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honesty slide. Do not soften it.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plainly: this is a proposal put to the programme’s owners, not an announcement of their decision.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plainly: this is a proposal put to ZEPARI too, not an announcement of their decision.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the pilot small on purpose. One run is enough to judge the capability.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four are the whole ask. Everything else is detail in the proposal document.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figure is the price proposed by Oreida Pvt Ltd, not an approved cost. A full Treasury business case would follow an approval in principle. Everything in the list above is included in either the one-off licence or the monthly service charge — there is no separate charge for hosting, power, connectivity or training.</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Lead with Zimbabwe’s own US$20 million appraisal and the US$3 million a year maintenance line: it is our own Government’s own figure, published by the World Bank, and nobody can argue with it. Then the African band. Then the decisive point — our monthly includes hosting, hardware, power and connectivity that theirs excluded. Full citations: World Bank ICR00005623 (4 February 2022); World Bank, Electronic Government Procurement — Implementation Types: Options for Africa, 2022; Government of Zimbabwe National Budget Statement 2019; McKinsey &amp; Company (2012); Journal of Management Information Systems, Vol 39, Issue 3.</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 single budget carries the whole cost. Each funding line is a proposed route, not an agreement already in place.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the recommendation: approve the pilot, fund the licence and the three build steps, and approve Oreida Pvt Ltd running and hosting it under the licence.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Nzwisiso AI™ — A Pilot Policy-Simulation Capability for Digitalize Zimbabwe, in partnership with ZEPARI</a:t>
            </a:r>
          </a:p>
        </p:txBody>
      </p:sp>
      <p:sp>
        <p:nvSpPr>
          <p:cNvPr id="3" name="Content Placeholder 2"/>
          <p:cNvSpPr>
            <a:spLocks noGrp="1"/>
          </p:cNvSpPr>
          <p:nvPr>
            <p:ph idx="1"/>
          </p:nvPr>
        </p:nvSpPr>
        <p:spPr/>
        <p:txBody>
          <a:bodyPr/>
          <a:lstStyle/>
          <a:p>
            <a:pPr lvl="0" indent="0" marL="0">
              <a:buNone/>
            </a:pPr>
            <a:r>
              <a:rPr b="1"/>
              <a:t>A working demonstration of applied AI in public service</a:t>
            </a:r>
          </a:p>
          <a:p>
            <a:pPr lvl="0" indent="0" marL="0">
              <a:buNone/>
            </a:pPr>
            <a:r>
              <a:rPr/>
              <a:t>Proposal to: the Hon. Tatenda Mavetera, MP — Minister of Information Communication Technology, Postal and Courier Services · Dr. Gibson Chigumira — Executive Director, ZEPARI · Dr. Jesimen Chipika — Deputy Governor, RBZ and Chairperson of the ZEPARI Board of Trustees · the ZEPARI Board of Trustees</a:t>
            </a:r>
          </a:p>
          <a:p>
            <a:pPr lvl="0" indent="0" marL="0">
              <a:buNone/>
            </a:pPr>
            <a:r>
              <a:rPr/>
              <a:t>Submitted by </a:t>
            </a:r>
            <a:r>
              <a:rPr b="1"/>
              <a:t>Oreida Pvt Ltd</a:t>
            </a:r>
            <a:r>
              <a:rPr/>
              <a:t> — Mr Edmore Zviitwah and Mr Tadii Tendayi</a:t>
            </a:r>
          </a:p>
          <a:p>
            <a:pPr lvl="0" indent="0" marL="0">
              <a:buNone/>
            </a:pPr>
            <a:r>
              <a:rPr/>
              <a:t>For Decision · 2 October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problem</a:t>
            </a:r>
          </a:p>
        </p:txBody>
      </p:sp>
      <p:sp>
        <p:nvSpPr>
          <p:cNvPr id="3" name="Content Placeholder 2"/>
          <p:cNvSpPr>
            <a:spLocks noGrp="1"/>
          </p:cNvSpPr>
          <p:nvPr>
            <p:ph idx="1"/>
          </p:nvPr>
        </p:nvSpPr>
        <p:spPr/>
        <p:txBody>
          <a:bodyPr/>
          <a:lstStyle/>
          <a:p>
            <a:pPr lvl="0"/>
            <a:r>
              <a:rPr/>
              <a:t>Policies are implemented without a structured way of examining who they affect and how those groups are likely to respond.</a:t>
            </a:r>
          </a:p>
          <a:p>
            <a:pPr lvl="0"/>
            <a:r>
              <a:rPr/>
              <a:t>The cost of a provision that is not understood — resistance, delay, rework — is discovered </a:t>
            </a:r>
            <a:r>
              <a:rPr b="1"/>
              <a:t>after</a:t>
            </a:r>
            <a:r>
              <a:rPr/>
              <a:t> implementation, not before it.</a:t>
            </a:r>
          </a:p>
          <a:p>
            <a:pPr lvl="0"/>
            <a:r>
              <a:rPr/>
              <a:t>Departments hold deep policy expertise, but they have no standard tool that lays out every affected group, the provisions that carry the most risk, and the recommended adjustments in one place.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different here</a:t>
            </a:r>
          </a:p>
        </p:txBody>
      </p:sp>
      <p:sp>
        <p:nvSpPr>
          <p:cNvPr id="3" name="Content Placeholder 2"/>
          <p:cNvSpPr>
            <a:spLocks noGrp="1"/>
          </p:cNvSpPr>
          <p:nvPr>
            <p:ph idx="1"/>
          </p:nvPr>
        </p:nvSpPr>
        <p:spPr/>
        <p:txBody>
          <a:bodyPr/>
          <a:lstStyle/>
          <a:p>
            <a:pPr lvl="0"/>
            <a:r>
              <a:rPr/>
              <a:t>This is </a:t>
            </a:r>
            <a:r>
              <a:rPr b="1"/>
              <a:t>not</a:t>
            </a:r>
            <a:r>
              <a:rPr/>
              <a:t> a concept, a mock-up or a slideware promise. It is a built, deployed platform that runs today in an ordinary web browser.</a:t>
            </a:r>
          </a:p>
          <a:p>
            <a:pPr lvl="0"/>
            <a:r>
              <a:rPr/>
              <a:t>It models </a:t>
            </a:r>
            <a:r>
              <a:rPr b="1"/>
              <a:t>150 stakeholder groups</a:t>
            </a:r>
            <a:r>
              <a:rPr/>
              <a:t> (40 per institution) and holds </a:t>
            </a:r>
            <a:r>
              <a:rPr b="1"/>
              <a:t>510 reference indicators</a:t>
            </a:r>
            <a:r>
              <a:rPr/>
              <a:t> across </a:t>
            </a:r>
            <a:r>
              <a:rPr b="1"/>
              <a:t>16 government institutions</a:t>
            </a:r>
            <a:r>
              <a:rPr/>
              <a:t>.</a:t>
            </a:r>
          </a:p>
          <a:p>
            <a:pPr lvl="0"/>
            <a:r>
              <a:rPr/>
              <a:t>The same department and the same policy text always produce a </a:t>
            </a:r>
            <a:r>
              <a:rPr b="1"/>
              <a:t>byte-identical</a:t>
            </a:r>
            <a:r>
              <a:rPr/>
              <a:t> result — no randomness, no clock in the result.</a:t>
            </a:r>
          </a:p>
          <a:p>
            <a:pPr lvl="0"/>
            <a:r>
              <a:rPr/>
              <a:t>The simulation runs </a:t>
            </a:r>
            <a:r>
              <a:rPr b="1"/>
              <a:t>entirely on the reader’s own machine</a:t>
            </a:r>
            <a:r>
              <a:rPr/>
              <a:t> — no third-party script and no outside font is ever fetched. The parts written by the AI come from the </a:t>
            </a:r>
            <a:r>
              <a:rPr b="1"/>
              <a:t>Nzwisiso AI Policy Simulation Engine™</a:t>
            </a:r>
            <a:r>
              <a:rPr/>
              <a:t>, which the platform calls over an interface and which runs on </a:t>
            </a:r>
            <a:r>
              <a:rPr b="1"/>
              <a:t>Oreida Pvt Ltd’s own servers</a:t>
            </a:r>
            <a:r>
              <a:rPr/>
              <a:t> under the licence.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already exists</a:t>
            </a:r>
          </a:p>
        </p:txBody>
      </p:sp>
      <p:sp>
        <p:nvSpPr>
          <p:cNvPr id="3" name="Content Placeholder 2"/>
          <p:cNvSpPr>
            <a:spLocks noGrp="1"/>
          </p:cNvSpPr>
          <p:nvPr>
            <p:ph idx="1"/>
          </p:nvPr>
        </p:nvSpPr>
        <p:spPr/>
        <p:txBody>
          <a:bodyPr/>
          <a:lstStyle/>
          <a:p>
            <a:pPr lvl="0"/>
            <a:r>
              <a:rPr b="1"/>
              <a:t>16 government institutions</a:t>
            </a:r>
            <a:r>
              <a:rPr/>
              <a:t>, from the Office of the President and Cabinet to ZIDA.</a:t>
            </a:r>
          </a:p>
          <a:p>
            <a:pPr lvl="0"/>
            <a:r>
              <a:rPr b="1"/>
              <a:t>150 modelled stakeholder groups</a:t>
            </a:r>
            <a:r>
              <a:rPr/>
              <a:t> — 20 stand on a published national share, 130 are labelled </a:t>
            </a:r>
            <a:r>
              <a:rPr>
                <a:latin typeface="Courier"/>
              </a:rPr>
              <a:t>Modelled</a:t>
            </a:r>
            <a:r>
              <a:rPr/>
              <a:t>.</a:t>
            </a:r>
          </a:p>
          <a:p>
            <a:pPr lvl="0"/>
            <a:r>
              <a:rPr b="1"/>
              <a:t>510 reference indicators</a:t>
            </a:r>
            <a:r>
              <a:rPr/>
              <a:t> — 275 are published figures naming their publisher and period, 235 are </a:t>
            </a:r>
            <a:r>
              <a:rPr>
                <a:latin typeface="Courier"/>
              </a:rPr>
              <a:t>Modelled</a:t>
            </a:r>
            <a:r>
              <a:rPr/>
              <a:t>.</a:t>
            </a:r>
          </a:p>
          <a:p>
            <a:pPr lvl="0"/>
            <a:r>
              <a:rPr b="1"/>
              <a:t>48 prepared policy drafts</a:t>
            </a:r>
            <a:r>
              <a:rPr/>
              <a:t> (three per institution), ready to run today.</a:t>
            </a:r>
          </a:p>
          <a:p>
            <a:pPr lvl="0"/>
            <a:r>
              <a:rPr b="1"/>
              <a:t>A complete officer journey:</a:t>
            </a:r>
            <a:r>
              <a:rPr/>
              <a:t> choose a department → upload or paste a draft → run → read the assessment → export → generate a drafted policy.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live demonstration, not a promise</a:t>
            </a:r>
          </a:p>
        </p:txBody>
      </p:sp>
      <p:sp>
        <p:nvSpPr>
          <p:cNvPr id="3" name="Content Placeholder 2"/>
          <p:cNvSpPr>
            <a:spLocks noGrp="1"/>
          </p:cNvSpPr>
          <p:nvPr>
            <p:ph idx="1"/>
          </p:nvPr>
        </p:nvSpPr>
        <p:spPr/>
        <p:txBody>
          <a:bodyPr/>
          <a:lstStyle/>
          <a:p>
            <a:pPr lvl="0"/>
            <a:r>
              <a:rPr/>
              <a:t>We can demonstrate the whole journey today, on a machine the Ministry already owns, with no installation.</a:t>
            </a:r>
          </a:p>
          <a:p>
            <a:pPr lvl="0"/>
            <a:r>
              <a:rPr b="1"/>
              <a:t>Click order for a live run:</a:t>
            </a:r>
            <a:r>
              <a:rPr/>
              <a:t> (1) choose a department; (2) pick a prepared draft; (3) press </a:t>
            </a:r>
            <a:r>
              <a:rPr b="1"/>
              <a:t>Run Simulation</a:t>
            </a:r>
            <a:r>
              <a:rPr/>
              <a:t>; (4) watch the modelled population and its relationships build up; (5) open the executive summary; (6) open the full assessment; (7) export to PDF or Word; (8) generate the drafted policy.</a:t>
            </a:r>
          </a:p>
          <a:p>
            <a:pPr lvl="0"/>
            <a:r>
              <a:rPr b="1"/>
              <a:t>If the network is unavailable:</a:t>
            </a:r>
            <a:r>
              <a:rPr/>
              <a:t> the simulation still runs in full, because it is computed on the reader’s own machine. Only the AI-written parts (the drafted policy, the research answers) need the engine to be reachable — so </a:t>
            </a:r>
            <a:r>
              <a:rPr b="1"/>
              <a:t>do the live demonstration with connectivity</a:t>
            </a:r>
            <a:r>
              <a:rPr/>
              <a:t>. </a:t>
            </a:r>
            <a:r>
              <a:rPr i="1"/>
              <a:t>(Corrected 2026-10-11: this bullet previously said the platform “makes no network request”, which stopped being true once the AI keys were built in.)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one run produces</a:t>
            </a:r>
          </a:p>
        </p:txBody>
      </p:sp>
      <p:sp>
        <p:nvSpPr>
          <p:cNvPr id="3" name="Content Placeholder 2"/>
          <p:cNvSpPr>
            <a:spLocks noGrp="1"/>
          </p:cNvSpPr>
          <p:nvPr>
            <p:ph idx="1"/>
          </p:nvPr>
        </p:nvSpPr>
        <p:spPr/>
        <p:txBody>
          <a:bodyPr/>
          <a:lstStyle/>
          <a:p>
            <a:pPr lvl="0"/>
            <a:r>
              <a:rPr/>
              <a:t>An </a:t>
            </a:r>
            <a:r>
              <a:rPr b="1"/>
              <a:t>executive summary</a:t>
            </a:r>
            <a:r>
              <a:rPr/>
              <a:t> for a reader in a hurry.</a:t>
            </a:r>
          </a:p>
          <a:p>
            <a:pPr lvl="0"/>
            <a:r>
              <a:rPr/>
              <a:t>A </a:t>
            </a:r>
            <a:r>
              <a:rPr b="1"/>
              <a:t>long-form report</a:t>
            </a:r>
            <a:r>
              <a:rPr/>
              <a:t> and a </a:t>
            </a:r>
            <a:r>
              <a:rPr b="1"/>
              <a:t>full assessment</a:t>
            </a:r>
            <a:r>
              <a:rPr/>
              <a:t>, with the modelled groups, the stated priorities, the risks raised, and the recommended steps.</a:t>
            </a:r>
          </a:p>
          <a:p>
            <a:pPr lvl="0"/>
            <a:r>
              <a:rPr/>
              <a:t>A </a:t>
            </a:r>
            <a:r>
              <a:rPr b="1"/>
              <a:t>drafted policy</a:t>
            </a:r>
            <a:r>
              <a:rPr/>
              <a:t> — a real instrument with numbered provisions — that the officer can then edit.</a:t>
            </a:r>
          </a:p>
          <a:p>
            <a:pPr lvl="0"/>
            <a:r>
              <a:rPr/>
              <a:t>Every figure marked for review: published figures name their source; everything else is plainly labelled </a:t>
            </a:r>
            <a:r>
              <a:rPr>
                <a:latin typeface="Courier"/>
              </a:rPr>
              <a:t>Modelled</a:t>
            </a:r>
            <a:r>
              <a:rPr/>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governance boundary</a:t>
            </a:r>
          </a:p>
        </p:txBody>
      </p:sp>
      <p:sp>
        <p:nvSpPr>
          <p:cNvPr id="3" name="Content Placeholder 2"/>
          <p:cNvSpPr>
            <a:spLocks noGrp="1"/>
          </p:cNvSpPr>
          <p:nvPr>
            <p:ph idx="1"/>
          </p:nvPr>
        </p:nvSpPr>
        <p:spPr/>
        <p:txBody>
          <a:bodyPr/>
          <a:lstStyle/>
          <a:p>
            <a:pPr lvl="0"/>
            <a:r>
              <a:rPr/>
              <a:t>The platform states, word for word, that it </a:t>
            </a:r>
            <a:r>
              <a:rPr b="1"/>
              <a:t>does not replace policymakers or determine policy outcomes</a:t>
            </a:r>
            <a:r>
              <a:rPr/>
              <a:t>.</a:t>
            </a:r>
          </a:p>
          <a:p>
            <a:pPr lvl="0"/>
            <a:r>
              <a:rPr/>
              <a:t>It provides an </a:t>
            </a:r>
            <a:r>
              <a:rPr b="1"/>
              <a:t>additional analytical lens</a:t>
            </a:r>
            <a:r>
              <a:rPr/>
              <a:t> to support informed human judgement.</a:t>
            </a:r>
          </a:p>
          <a:p>
            <a:pPr lvl="0"/>
            <a:r>
              <a:rPr/>
              <a:t>Every generated document carries a </a:t>
            </a:r>
            <a:r>
              <a:rPr b="1"/>
              <a:t>decision-support disclaimer</a:t>
            </a:r>
            <a:r>
              <a:rPr/>
              <a:t>.</a:t>
            </a:r>
          </a:p>
          <a:p>
            <a:pPr lvl="0"/>
            <a:r>
              <a:rPr/>
              <a:t>This is scenario analysis that is reproducible and reviewable — </a:t>
            </a:r>
            <a:r>
              <a:rPr b="1"/>
              <a:t>not</a:t>
            </a:r>
            <a:r>
              <a:rPr/>
              <a:t> a prediction of public opinion, and never “the AI decided”.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is the pilot for Digitalize Zimbabwe</a:t>
            </a:r>
          </a:p>
        </p:txBody>
      </p:sp>
      <p:sp>
        <p:nvSpPr>
          <p:cNvPr id="3" name="Content Placeholder 2"/>
          <p:cNvSpPr>
            <a:spLocks noGrp="1"/>
          </p:cNvSpPr>
          <p:nvPr>
            <p:ph idx="1"/>
          </p:nvPr>
        </p:nvSpPr>
        <p:spPr/>
        <p:txBody>
          <a:bodyPr/>
          <a:lstStyle/>
          <a:p>
            <a:pPr lvl="0"/>
            <a:r>
              <a:rPr b="1"/>
              <a:t>Digitalize Zimbabwe</a:t>
            </a:r>
            <a:r>
              <a:rPr/>
              <a:t> is a named initiative of this Ministry, launched by the Honourable Minister at Domboshava in April 2024, with a </a:t>
            </a:r>
            <a:r>
              <a:rPr b="1"/>
              <a:t>2030</a:t>
            </a:r>
            <a:r>
              <a:rPr/>
              <a:t> horizon — internet access and personal computers for citizens, young people first.</a:t>
            </a:r>
          </a:p>
          <a:p>
            <a:pPr lvl="0"/>
            <a:r>
              <a:rPr/>
              <a:t>It names five workstreams, including </a:t>
            </a:r>
            <a:r>
              <a:rPr b="1"/>
              <a:t>e-Government services</a:t>
            </a:r>
            <a:r>
              <a:rPr/>
              <a:t>; Cabinet approved the </a:t>
            </a:r>
            <a:r>
              <a:rPr b="1"/>
              <a:t>Presidential Internet Scheme</a:t>
            </a:r>
            <a:r>
              <a:rPr/>
              <a:t> for </a:t>
            </a:r>
            <a:r>
              <a:rPr b="1"/>
              <a:t>all 2,400 administrative wards</a:t>
            </a:r>
            <a:r>
              <a:rPr/>
              <a:t> (April 2025); and the Government states it is </a:t>
            </a:r>
            <a:r>
              <a:rPr b="1"/>
              <a:t>committed to full digitalisation by 2030</a:t>
            </a:r>
            <a:r>
              <a:rPr/>
              <a:t>.</a:t>
            </a:r>
          </a:p>
          <a:p>
            <a:pPr lvl="0"/>
            <a:r>
              <a:rPr/>
              <a:t>In June 2026 the Government launched the </a:t>
            </a:r>
            <a:r>
              <a:rPr b="1"/>
              <a:t>National Artificial Intelligence Strategy</a:t>
            </a:r>
            <a:r>
              <a:rPr/>
              <a:t> — priority sectors </a:t>
            </a:r>
            <a:r>
              <a:rPr b="1"/>
              <a:t>healthcare, agriculture, education and financial inclusion</a:t>
            </a:r>
            <a:r>
              <a:rPr/>
              <a:t>.</a:t>
            </a:r>
          </a:p>
          <a:p>
            <a:pPr lvl="0"/>
            <a:r>
              <a:rPr/>
              <a:t>What does not yet exist is a </a:t>
            </a:r>
            <a:r>
              <a:rPr b="1"/>
              <a:t>working, sovereign example that the Ministry itself can put to work</a:t>
            </a:r>
            <a:r>
              <a:rPr/>
              <a:t>. This platform is exactly that, one step short.</a:t>
            </a:r>
          </a:p>
          <a:p>
            <a:pPr lvl="0"/>
            <a:r>
              <a:rPr b="1"/>
              <a:t>No endorsement is held.</a:t>
            </a:r>
            <a:r>
              <a:rPr/>
              <a:t> The platform holds </a:t>
            </a:r>
            <a:r>
              <a:rPr b="1"/>
              <a:t>no</a:t>
            </a:r>
            <a:r>
              <a:rPr/>
              <a:t> endorsement from the Ministry or the programme; obtaining one is part of the ask.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ZEPARI is the research partner</a:t>
            </a:r>
          </a:p>
        </p:txBody>
      </p:sp>
      <p:sp>
        <p:nvSpPr>
          <p:cNvPr id="3" name="Content Placeholder 2"/>
          <p:cNvSpPr>
            <a:spLocks noGrp="1"/>
          </p:cNvSpPr>
          <p:nvPr>
            <p:ph idx="1"/>
          </p:nvPr>
        </p:nvSpPr>
        <p:spPr/>
        <p:txBody>
          <a:bodyPr/>
          <a:lstStyle/>
          <a:p>
            <a:pPr lvl="0"/>
            <a:r>
              <a:rPr b="1"/>
              <a:t>ZEPARI</a:t>
            </a:r>
            <a:r>
              <a:rPr/>
              <a:t> is the </a:t>
            </a:r>
            <a:r>
              <a:rPr b="1"/>
              <a:t>Zimbabwe Economic Policy Analysis and Research Institute</a:t>
            </a:r>
            <a:r>
              <a:rPr/>
              <a:t> — an autonomous economic policy analysis and research think-tank, established in 2003 by a Deed of Trust.</a:t>
            </a:r>
          </a:p>
          <a:p>
            <a:pPr lvl="0"/>
            <a:r>
              <a:rPr/>
              <a:t>Its stated mission is to conduct applied economic policy analysis, research and capacity building to promote a culture of evidence-based policy making in Zimbabwe.</a:t>
            </a:r>
          </a:p>
          <a:p>
            <a:pPr lvl="0"/>
            <a:r>
              <a:rPr/>
              <a:t>That is exactly the evidence base this platform consumes. We seek to </a:t>
            </a:r>
            <a:r>
              <a:rPr b="1"/>
              <a:t>partner with ZEPARI</a:t>
            </a:r>
            <a:r>
              <a:rPr/>
              <a:t>: the Ministry puts the capability to work, and ZEPARI owns the evidence and the methods independently.</a:t>
            </a:r>
          </a:p>
          <a:p>
            <a:pPr lvl="0"/>
            <a:r>
              <a:rPr b="1"/>
              <a:t>No endorsement is held.</a:t>
            </a:r>
            <a:r>
              <a:rPr/>
              <a:t> ZEPARI holds </a:t>
            </a:r>
            <a:r>
              <a:rPr b="1"/>
              <a:t>no</a:t>
            </a:r>
            <a:r>
              <a:rPr/>
              <a:t> endorsement of this platform today; obtaining ZEPARI’s endorsement is part of the ask.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it serves first</a:t>
            </a:r>
          </a:p>
        </p:txBody>
      </p:sp>
      <p:sp>
        <p:nvSpPr>
          <p:cNvPr id="3" name="Content Placeholder 2"/>
          <p:cNvSpPr>
            <a:spLocks noGrp="1"/>
          </p:cNvSpPr>
          <p:nvPr>
            <p:ph idx="1"/>
          </p:nvPr>
        </p:nvSpPr>
        <p:spPr/>
        <p:txBody>
          <a:bodyPr/>
          <a:lstStyle/>
          <a:p>
            <a:pPr lvl="0"/>
            <a:r>
              <a:rPr/>
              <a:t>The first user is a </a:t>
            </a:r>
            <a:r>
              <a:rPr b="1"/>
              <a:t>policy officer</a:t>
            </a:r>
            <a:r>
              <a:rPr/>
              <a:t> in a department, testing a real draft before it goes up for approval.</a:t>
            </a:r>
          </a:p>
          <a:p>
            <a:pPr lvl="0"/>
            <a:r>
              <a:rPr/>
              <a:t>The first pilot is </a:t>
            </a:r>
            <a:r>
              <a:rPr b="1"/>
              <a:t>one institution, one policy question and one run</a:t>
            </a:r>
            <a:r>
              <a:rPr/>
              <a:t> — small enough to assess honestly.</a:t>
            </a:r>
          </a:p>
          <a:p>
            <a:pPr lvl="0"/>
            <a:r>
              <a:rPr/>
              <a:t>The reader of the output is the </a:t>
            </a:r>
            <a:r>
              <a:rPr b="1"/>
              <a:t>deciding official</a:t>
            </a:r>
            <a:r>
              <a:rPr/>
              <a:t>: a structured, reproducible assessment they can challenge and act 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approval unlocks</a:t>
            </a:r>
          </a:p>
        </p:txBody>
      </p:sp>
      <p:sp>
        <p:nvSpPr>
          <p:cNvPr id="3" name="Content Placeholder 2"/>
          <p:cNvSpPr>
            <a:spLocks noGrp="1"/>
          </p:cNvSpPr>
          <p:nvPr>
            <p:ph idx="1"/>
          </p:nvPr>
        </p:nvSpPr>
        <p:spPr/>
        <p:txBody>
          <a:bodyPr/>
          <a:lstStyle/>
          <a:p>
            <a:pPr lvl="0"/>
            <a:r>
              <a:rPr b="1"/>
              <a:t>Endorsement</a:t>
            </a:r>
            <a:r>
              <a:rPr/>
              <a:t> of the platform as a pilot for </a:t>
            </a:r>
            <a:r>
              <a:rPr b="1"/>
              <a:t>Digitalize Zimbabwe</a:t>
            </a:r>
            <a:r>
              <a:rPr/>
              <a:t>, and </a:t>
            </a:r>
            <a:r>
              <a:rPr b="1"/>
              <a:t>ZEPARI’s endorsement</a:t>
            </a:r>
            <a:r>
              <a:rPr/>
              <a:t> of it as a pilot for ZEPARI’s evidence-based policy work.</a:t>
            </a:r>
          </a:p>
          <a:p>
            <a:pPr lvl="0"/>
            <a:r>
              <a:rPr b="1"/>
              <a:t>ZEPARI’s partnership</a:t>
            </a:r>
            <a:r>
              <a:rPr/>
              <a:t> on the evidence base and the methods.</a:t>
            </a:r>
          </a:p>
          <a:p>
            <a:pPr lvl="0"/>
            <a:r>
              <a:rPr b="1"/>
              <a:t>Funding</a:t>
            </a:r>
            <a:r>
              <a:rPr/>
              <a:t> for the licence and three named build steps: server-side document text extraction; server-side identity verification; and deployment to a production service under service levels.</a:t>
            </a:r>
          </a:p>
          <a:p>
            <a:pPr lvl="0"/>
            <a:r>
              <a:rPr b="1"/>
              <a:t>Oreida Pvt Ltd running and hosting the platform</a:t>
            </a:r>
            <a:r>
              <a:rPr/>
              <a:t> for the Ministry, under the public-private partnership and licence.</a:t>
            </a:r>
          </a:p>
          <a:p>
            <a:pPr lvl="0"/>
            <a:r>
              <a:rPr/>
              <a:t>A decision on </a:t>
            </a:r>
            <a:r>
              <a:rPr b="1"/>
              <a:t>one institution and one policy question</a:t>
            </a:r>
            <a:r>
              <a:rPr/>
              <a:t> to test.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cost, marked as estimates</a:t>
            </a:r>
          </a:p>
        </p:txBody>
      </p:sp>
      <p:sp>
        <p:nvSpPr>
          <p:cNvPr id="4" name="Text Placeholder 3"/>
          <p:cNvSpPr>
            <a:spLocks noGrp="1"/>
          </p:cNvSpPr>
          <p:nvPr>
            <p:ph idx="2" sz="half" type="body"/>
          </p:nvPr>
        </p:nvSpPr>
        <p:spPr/>
        <p:txBody>
          <a:bodyPr/>
          <a:lstStyle/>
          <a:p>
            <a:pPr lvl="0"/>
            <a:r>
              <a:rPr b="1"/>
              <a:t>One price for both tools</a:t>
            </a:r>
            <a:r>
              <a:rPr/>
              <a:t> — the Nzwisiso AI™ Policy Simulation Assistant and the ZEPARI Research Assistant™. </a:t>
            </a:r>
            <a:r>
              <a:rPr b="1"/>
              <a:t>No per-tool charge and no per-officer charge.</a:t>
            </a:r>
            <a:r>
              <a:rPr/>
              <a:t> Either can be used entirely on its own, and they complement each other.</a:t>
            </a:r>
          </a:p>
          <a:p>
            <a:pPr lvl="0"/>
            <a:r>
              <a:rPr/>
              <a:t>Paid in </a:t>
            </a:r>
            <a:r>
              <a:rPr b="1"/>
              <a:t>five part-payments as the work is accepted</a:t>
            </a:r>
            <a:r>
              <a:rPr/>
              <a:t>: a </a:t>
            </a:r>
            <a:r>
              <a:rPr b="1"/>
              <a:t>1,300,000 licence fee on signature</a:t>
            </a:r>
            <a:r>
              <a:rPr/>
              <a:t> for software that already exists, a </a:t>
            </a:r>
            <a:r>
              <a:rPr b="1"/>
              <a:t>500,000 mobilisation advance secured by a bank guarantee</a:t>
            </a:r>
            <a:r>
              <a:rPr/>
              <a:t>, then </a:t>
            </a:r>
            <a:r>
              <a:rPr b="1"/>
              <a:t>300,000 + 300,000 + 400,000</a:t>
            </a:r>
            <a:r>
              <a:rPr/>
              <a:t> on acceptance of the three build steps.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a:t>
                      </a:r>
                    </a:p>
                  </a:txBody>
                  <a:tcPr/>
                </a:tc>
                <a:tc>
                  <a:txBody>
                    <a:bodyPr/>
                    <a:lstStyle/>
                    <a:p>
                      <a:pPr lvl="0" indent="0" marL="0">
                        <a:buNone/>
                      </a:pPr>
                      <a:r>
                        <a:rPr/>
                        <a:t>Item</a:t>
                      </a:r>
                    </a:p>
                  </a:txBody>
                  <a:tcPr/>
                </a:tc>
                <a:tc>
                  <a:txBody>
                    <a:bodyPr/>
                    <a:lstStyle/>
                    <a:p>
                      <a:pPr lvl="0" indent="0" marL="0">
                        <a:buNone/>
                      </a:pPr>
                      <a:r>
                        <a:rPr/>
                        <a:t>Type</a:t>
                      </a:r>
                    </a:p>
                  </a:txBody>
                  <a:tcPr/>
                </a:tc>
                <a:tc>
                  <a:txBody>
                    <a:bodyPr/>
                    <a:lstStyle/>
                    <a:p>
                      <a:pPr lvl="0" indent="0" marL="0">
                        <a:buNone/>
                      </a:pPr>
                      <a:r>
                        <a:rPr/>
                        <a:t>Price (USD)</a:t>
                      </a:r>
                    </a:p>
                  </a:txBody>
                  <a:tcPr/>
                </a:tc>
              </a:tr>
              <a:tr h="0">
                <a:tc>
                  <a:txBody>
                    <a:bodyPr/>
                    <a:lstStyle/>
                    <a:p>
                      <a:pPr lvl="0" indent="0" marL="0">
                        <a:buNone/>
                      </a:pPr>
                      <a:r>
                        <a:rPr/>
                        <a:t>1</a:t>
                      </a:r>
                    </a:p>
                  </a:txBody>
                </a:tc>
                <a:tc>
                  <a:txBody>
                    <a:bodyPr/>
                    <a:lstStyle/>
                    <a:p>
                      <a:pPr lvl="0" indent="0" marL="0">
                        <a:buNone/>
                      </a:pPr>
                      <a:r>
                        <a:rPr/>
                        <a:t>Server-side document text extraction</a:t>
                      </a:r>
                    </a:p>
                  </a:txBody>
                </a:tc>
                <a:tc>
                  <a:txBody>
                    <a:bodyPr/>
                    <a:lstStyle/>
                    <a:p>
                      <a:pPr lvl="0" indent="0" marL="0">
                        <a:buNone/>
                      </a:pPr>
                      <a:r>
                        <a:rPr/>
                        <a:t>One-off</a:t>
                      </a:r>
                    </a:p>
                  </a:txBody>
                </a:tc>
                <a:tc>
                  <a:txBody>
                    <a:bodyPr/>
                    <a:lstStyle/>
                    <a:p>
                      <a:pPr lvl="0" indent="0" marL="0">
                        <a:buNone/>
                      </a:pPr>
                      <a:r>
                        <a:rPr/>
                        <a:t>Included in the licence</a:t>
                      </a:r>
                    </a:p>
                  </a:txBody>
                </a:tc>
              </a:tr>
              <a:tr h="0">
                <a:tc>
                  <a:txBody>
                    <a:bodyPr/>
                    <a:lstStyle/>
                    <a:p>
                      <a:pPr lvl="0" indent="0" marL="0">
                        <a:buNone/>
                      </a:pPr>
                      <a:r>
                        <a:rPr/>
                        <a:t>2</a:t>
                      </a:r>
                    </a:p>
                  </a:txBody>
                </a:tc>
                <a:tc>
                  <a:txBody>
                    <a:bodyPr/>
                    <a:lstStyle/>
                    <a:p>
                      <a:pPr lvl="0" indent="0" marL="0">
                        <a:buNone/>
                      </a:pPr>
                      <a:r>
                        <a:rPr/>
                        <a:t>Server-side identity verification</a:t>
                      </a:r>
                    </a:p>
                  </a:txBody>
                </a:tc>
                <a:tc>
                  <a:txBody>
                    <a:bodyPr/>
                    <a:lstStyle/>
                    <a:p>
                      <a:pPr lvl="0" indent="0" marL="0">
                        <a:buNone/>
                      </a:pPr>
                      <a:r>
                        <a:rPr/>
                        <a:t>One-off</a:t>
                      </a:r>
                    </a:p>
                  </a:txBody>
                </a:tc>
                <a:tc>
                  <a:txBody>
                    <a:bodyPr/>
                    <a:lstStyle/>
                    <a:p>
                      <a:pPr lvl="0" indent="0" marL="0">
                        <a:buNone/>
                      </a:pPr>
                      <a:r>
                        <a:rPr/>
                        <a:t>Included in the licence</a:t>
                      </a:r>
                    </a:p>
                  </a:txBody>
                </a:tc>
              </a:tr>
              <a:tr h="0">
                <a:tc>
                  <a:txBody>
                    <a:bodyPr/>
                    <a:lstStyle/>
                    <a:p>
                      <a:pPr lvl="0" indent="0" marL="0">
                        <a:buNone/>
                      </a:pPr>
                      <a:r>
                        <a:rPr/>
                        <a:t>3</a:t>
                      </a:r>
                    </a:p>
                  </a:txBody>
                </a:tc>
                <a:tc>
                  <a:txBody>
                    <a:bodyPr/>
                    <a:lstStyle/>
                    <a:p>
                      <a:pPr lvl="0" indent="0" marL="0">
                        <a:buNone/>
                      </a:pPr>
                      <a:r>
                        <a:rPr/>
                        <a:t>Deployment to a production service under service levels</a:t>
                      </a:r>
                    </a:p>
                  </a:txBody>
                </a:tc>
                <a:tc>
                  <a:txBody>
                    <a:bodyPr/>
                    <a:lstStyle/>
                    <a:p>
                      <a:pPr lvl="0" indent="0" marL="0">
                        <a:buNone/>
                      </a:pPr>
                      <a:r>
                        <a:rPr/>
                        <a:t>One-off</a:t>
                      </a:r>
                    </a:p>
                  </a:txBody>
                </a:tc>
                <a:tc>
                  <a:txBody>
                    <a:bodyPr/>
                    <a:lstStyle/>
                    <a:p>
                      <a:pPr lvl="0" indent="0" marL="0">
                        <a:buNone/>
                      </a:pPr>
                      <a:r>
                        <a:rPr/>
                        <a:t>Included in the licence</a:t>
                      </a:r>
                    </a:p>
                  </a:txBody>
                </a:tc>
              </a:tr>
              <a:tr h="0">
                <a:tc>
                  <a:txBody>
                    <a:bodyPr/>
                    <a:lstStyle/>
                    <a:p>
                      <a:pPr lvl="0" indent="0" marL="0">
                        <a:buNone/>
                      </a:pPr>
                      <a:r>
                        <a:rPr/>
                        <a:t>4</a:t>
                      </a:r>
                    </a:p>
                  </a:txBody>
                </a:tc>
                <a:tc>
                  <a:txBody>
                    <a:bodyPr/>
                    <a:lstStyle/>
                    <a:p>
                      <a:pPr lvl="0" indent="0" marL="0">
                        <a:buNone/>
                      </a:pPr>
                      <a:r>
                        <a:rPr/>
                        <a:t>Pilot delivery (one institution, one question, one run)</a:t>
                      </a:r>
                    </a:p>
                  </a:txBody>
                </a:tc>
                <a:tc>
                  <a:txBody>
                    <a:bodyPr/>
                    <a:lstStyle/>
                    <a:p>
                      <a:pPr lvl="0" indent="0" marL="0">
                        <a:buNone/>
                      </a:pPr>
                      <a:r>
                        <a:rPr/>
                        <a:t>One-off</a:t>
                      </a:r>
                    </a:p>
                  </a:txBody>
                </a:tc>
                <a:tc>
                  <a:txBody>
                    <a:bodyPr/>
                    <a:lstStyle/>
                    <a:p>
                      <a:pPr lvl="0" indent="0" marL="0">
                        <a:buNone/>
                      </a:pPr>
                      <a:r>
                        <a:rPr/>
                        <a:t>Included in the licence</a:t>
                      </a:r>
                    </a:p>
                  </a:txBody>
                </a:tc>
              </a:tr>
              <a:tr h="0">
                <a:tc>
                  <a:txBody>
                    <a:bodyPr/>
                    <a:lstStyle/>
                    <a:p>
                      <a:pPr lvl="0" indent="0" marL="0">
                        <a:buNone/>
                      </a:pPr>
                      <a:r>
                        <a:rPr/>
                        <a:t>5</a:t>
                      </a:r>
                    </a:p>
                  </a:txBody>
                </a:tc>
                <a:tc>
                  <a:txBody>
                    <a:bodyPr/>
                    <a:lstStyle/>
                    <a:p>
                      <a:pPr lvl="0" indent="0" marL="0">
                        <a:buNone/>
                      </a:pPr>
                      <a:r>
                        <a:rPr/>
                        <a:t>Hosting, support and training</a:t>
                      </a:r>
                    </a:p>
                  </a:txBody>
                </a:tc>
                <a:tc>
                  <a:txBody>
                    <a:bodyPr/>
                    <a:lstStyle/>
                    <a:p>
                      <a:pPr lvl="0" indent="0" marL="0">
                        <a:buNone/>
                      </a:pPr>
                      <a:r>
                        <a:rPr/>
                        <a:t>Recurring</a:t>
                      </a:r>
                    </a:p>
                  </a:txBody>
                </a:tc>
                <a:tc>
                  <a:txBody>
                    <a:bodyPr/>
                    <a:lstStyle/>
                    <a:p>
                      <a:pPr lvl="0" indent="0" marL="0">
                        <a:buNone/>
                      </a:pPr>
                      <a:r>
                        <a:rPr/>
                        <a:t>Included in the monthly service charge</a:t>
                      </a:r>
                    </a:p>
                  </a:txBody>
                </a:tc>
              </a:tr>
              <a:tr h="0">
                <a:tc>
                  <a:txBody>
                    <a:bodyPr/>
                    <a:lstStyle/>
                    <a:p>
                      <a:endParaRPr/>
                    </a:p>
                  </a:txBody>
                </a:tc>
                <a:tc>
                  <a:txBody>
                    <a:bodyPr/>
                    <a:lstStyle/>
                    <a:p>
                      <a:pPr lvl="0" indent="0" marL="0">
                        <a:buNone/>
                      </a:pPr>
                      <a:r>
                        <a:rPr b="1"/>
                        <a:t>One-off licence</a:t>
                      </a:r>
                      <a:r>
                        <a:rPr/>
                        <a:t> — design, build, deployment and training</a:t>
                      </a:r>
                    </a:p>
                  </a:txBody>
                </a:tc>
                <a:tc>
                  <a:txBody>
                    <a:bodyPr/>
                    <a:lstStyle/>
                    <a:p>
                      <a:pPr lvl="0" indent="0" marL="0">
                        <a:buNone/>
                      </a:pPr>
                      <a:r>
                        <a:rPr/>
                        <a:t>One-off</a:t>
                      </a:r>
                    </a:p>
                  </a:txBody>
                </a:tc>
                <a:tc>
                  <a:txBody>
                    <a:bodyPr/>
                    <a:lstStyle/>
                    <a:p>
                      <a:pPr lvl="0" indent="0" marL="0">
                        <a:buNone/>
                      </a:pPr>
                      <a:r>
                        <a:rPr b="1"/>
                        <a:t>2,800,000</a:t>
                      </a:r>
                    </a:p>
                  </a:txBody>
                </a:tc>
              </a:tr>
              <a:tr h="0">
                <a:tc>
                  <a:txBody>
                    <a:bodyPr/>
                    <a:lstStyle/>
                    <a:p>
                      <a:endParaRPr/>
                    </a:p>
                  </a:txBody>
                </a:tc>
                <a:tc>
                  <a:txBody>
                    <a:bodyPr/>
                    <a:lstStyle/>
                    <a:p>
                      <a:pPr lvl="0" indent="0" marL="0">
                        <a:buNone/>
                      </a:pPr>
                      <a:r>
                        <a:rPr b="1"/>
                        <a:t>Monthly service charge</a:t>
                      </a:r>
                      <a:r>
                        <a:rPr/>
                        <a:t> — hosting, running, power, connectivity, support and updates</a:t>
                      </a:r>
                    </a:p>
                  </a:txBody>
                </a:tc>
                <a:tc>
                  <a:txBody>
                    <a:bodyPr/>
                    <a:lstStyle/>
                    <a:p>
                      <a:pPr lvl="0" indent="0" marL="0">
                        <a:buNone/>
                      </a:pPr>
                      <a:r>
                        <a:rPr/>
                        <a:t>Recurring</a:t>
                      </a:r>
                    </a:p>
                  </a:txBody>
                </a:tc>
                <a:tc>
                  <a:txBody>
                    <a:bodyPr/>
                    <a:lstStyle/>
                    <a:p>
                      <a:pPr lvl="0" indent="0" marL="0">
                        <a:buNone/>
                      </a:pPr>
                      <a:r>
                        <a:rPr b="1"/>
                        <a:t>72,000 per month</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this compares</a:t>
            </a:r>
          </a:p>
        </p:txBody>
      </p:sp>
      <p:sp>
        <p:nvSpPr>
          <p:cNvPr id="3" name="Content Placeholder 2"/>
          <p:cNvSpPr>
            <a:spLocks noGrp="1"/>
          </p:cNvSpPr>
          <p:nvPr>
            <p:ph idx="1"/>
          </p:nvPr>
        </p:nvSpPr>
        <p:spPr/>
        <p:txBody>
          <a:bodyPr/>
          <a:lstStyle/>
          <a:p>
            <a:pPr lvl="0"/>
            <a:r>
              <a:rPr/>
              <a:t>Zimbabwe’s Ministry of Finance had a financial-management system project appraised at </a:t>
            </a:r>
            <a:r>
              <a:rPr b="1"/>
              <a:t>US$20 million</a:t>
            </a:r>
            <a:r>
              <a:rPr/>
              <a:t> and signed at </a:t>
            </a:r>
            <a:r>
              <a:rPr b="1"/>
              <a:t>US$10 million</a:t>
            </a:r>
            <a:r>
              <a:rPr/>
              <a:t> — and the Government pays </a:t>
            </a:r>
            <a:r>
              <a:rPr b="1"/>
              <a:t>approximately US$3 million a year</a:t>
            </a:r>
            <a:r>
              <a:rPr/>
              <a:t> just to maintain that system </a:t>
            </a:r>
            <a:r>
              <a:rPr i="1"/>
              <a:t>(World Bank, Zimbabwe: Public Financial Management Enhancement Project, ICR00005623, 4 February 2022)</a:t>
            </a:r>
            <a:r>
              <a:rPr/>
              <a:t>.</a:t>
            </a:r>
          </a:p>
          <a:p>
            <a:pPr lvl="0"/>
            <a:r>
              <a:rPr/>
              <a:t>Comparable national platforms built by other African governments cost </a:t>
            </a:r>
            <a:r>
              <a:rPr b="1"/>
              <a:t>US$1.45 million to US$7.8 million</a:t>
            </a:r>
            <a:r>
              <a:rPr/>
              <a:t> to design and build, with annual running of </a:t>
            </a:r>
            <a:r>
              <a:rPr b="1"/>
              <a:t>US$155,000 to US$873,000</a:t>
            </a:r>
            <a:r>
              <a:rPr/>
              <a:t> </a:t>
            </a:r>
            <a:r>
              <a:rPr i="1"/>
              <a:t>(World Bank, Electronic Government Procurement — Implementation Types: Options for Africa, 2022, pages 99–110)</a:t>
            </a:r>
            <a:r>
              <a:rPr/>
              <a:t>.</a:t>
            </a:r>
          </a:p>
          <a:p>
            <a:pPr lvl="0"/>
            <a:r>
              <a:rPr b="1"/>
              <a:t>Zimbabwe’s own budget</a:t>
            </a:r>
            <a:r>
              <a:rPr/>
              <a:t> allocated </a:t>
            </a:r>
            <a:r>
              <a:rPr b="1"/>
              <a:t>US$1.7 million</a:t>
            </a:r>
            <a:r>
              <a:rPr/>
              <a:t> to establishing </a:t>
            </a:r>
            <a:r>
              <a:rPr b="1"/>
              <a:t>one</a:t>
            </a:r>
            <a:r>
              <a:rPr/>
              <a:t> information system — the automated mining cadastre — in 2018, and it was </a:t>
            </a:r>
            <a:r>
              <a:rPr b="1"/>
              <a:t>never spent</a:t>
            </a:r>
            <a:r>
              <a:rPr/>
              <a:t> </a:t>
            </a:r>
            <a:r>
              <a:rPr i="1"/>
              <a:t>(Government of Zimbabwe National Budget Statement 2019)</a:t>
            </a:r>
            <a:r>
              <a:rPr/>
              <a:t>.</a:t>
            </a:r>
          </a:p>
          <a:p>
            <a:pPr lvl="0"/>
            <a:r>
              <a:rPr/>
              <a:t>Our price sits </a:t>
            </a:r>
            <a:r>
              <a:rPr b="1"/>
              <a:t>inside both published ranges</a:t>
            </a:r>
            <a:r>
              <a:rPr/>
              <a:t>: a one-off of </a:t>
            </a:r>
            <a:r>
              <a:rPr b="1"/>
              <a:t>US$2,800,000</a:t>
            </a:r>
            <a:r>
              <a:rPr/>
              <a:t>, and </a:t>
            </a:r>
            <a:r>
              <a:rPr b="1"/>
              <a:t>US$72,000 a month</a:t>
            </a:r>
            <a:r>
              <a:rPr/>
              <a:t> that includes hosting, hardware, power, connectivity, support and updates — where the comparators’ annual figures </a:t>
            </a:r>
            <a:r>
              <a:rPr b="1"/>
              <a:t>excluded</a:t>
            </a:r>
            <a:r>
              <a:rPr/>
              <a:t> hosting.</a:t>
            </a:r>
          </a:p>
          <a:p>
            <a:pPr lvl="0"/>
            <a:r>
              <a:rPr/>
              <a:t>The published record on building it yourself: large IT projects run </a:t>
            </a:r>
            <a:r>
              <a:rPr b="1"/>
              <a:t>45% over budget on average</a:t>
            </a:r>
            <a:r>
              <a:rPr/>
              <a:t>, and </a:t>
            </a:r>
            <a:r>
              <a:rPr b="1"/>
              <a:t>18% of IT projects overrun by more than 50%</a:t>
            </a:r>
            <a:r>
              <a:rPr/>
              <a:t> — those by </a:t>
            </a:r>
            <a:r>
              <a:rPr b="1"/>
              <a:t>447%</a:t>
            </a:r>
            <a:r>
              <a:rPr/>
              <a: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proposed funding route</a:t>
            </a:r>
          </a:p>
        </p:txBody>
      </p:sp>
      <p:sp>
        <p:nvSpPr>
          <p:cNvPr id="3" name="Content Placeholder 2"/>
          <p:cNvSpPr>
            <a:spLocks noGrp="1"/>
          </p:cNvSpPr>
          <p:nvPr>
            <p:ph idx="1"/>
          </p:nvPr>
        </p:nvSpPr>
        <p:spPr/>
        <p:txBody>
          <a:bodyPr/>
          <a:lstStyle/>
          <a:p>
            <a:pPr lvl="0"/>
            <a:r>
              <a:rPr b="1"/>
              <a:t>The licence and the build</a:t>
            </a:r>
            <a:r>
              <a:rPr/>
              <a:t> — the Ministry of ICT, through </a:t>
            </a:r>
            <a:r>
              <a:rPr b="1"/>
              <a:t>Treasury</a:t>
            </a:r>
            <a:r>
              <a:rPr/>
              <a:t>, or the </a:t>
            </a:r>
            <a:r>
              <a:rPr b="1"/>
              <a:t>POTRAZ Universal Service Fund</a:t>
            </a:r>
            <a:r>
              <a:rPr/>
              <a:t>.</a:t>
            </a:r>
          </a:p>
          <a:p>
            <a:pPr lvl="0"/>
            <a:r>
              <a:rPr b="1"/>
              <a:t>Capacity</a:t>
            </a:r>
            <a:r>
              <a:rPr/>
              <a:t> — </a:t>
            </a:r>
            <a:r>
              <a:rPr b="1"/>
              <a:t>ZEPARI</a:t>
            </a:r>
            <a:r>
              <a:rPr/>
              <a:t>, with </a:t>
            </a:r>
            <a:r>
              <a:rPr b="1"/>
              <a:t>ACBF</a:t>
            </a:r>
            <a:r>
              <a:rPr/>
              <a:t> (the African Capacity Building Foundation).</a:t>
            </a:r>
          </a:p>
          <a:p>
            <a:pPr lvl="0"/>
            <a:r>
              <a:rPr b="1"/>
              <a:t>The pilot study</a:t>
            </a:r>
            <a:r>
              <a:rPr/>
              <a:t> — a </a:t>
            </a:r>
            <a:r>
              <a:rPr b="1"/>
              <a:t>ZEPARI development partner</a:t>
            </a:r>
            <a:r>
              <a:rPr/>
              <a:t> (UNDP, AfDB, World Bank or USAID) </a:t>
            </a:r>
            <a:r>
              <a:rPr>
                <a:latin typeface="Courier"/>
              </a:rPr>
              <a:t>[QUESTION — needs a decision]</a:t>
            </a:r>
            <a:r>
              <a:rPr/>
              <a:t>.</a:t>
            </a:r>
          </a:p>
          <a:p>
            <a:pPr lvl="0"/>
            <a:r>
              <a:rPr b="1"/>
              <a:t>The first sector pilot</a:t>
            </a:r>
            <a:r>
              <a:rPr/>
              <a:t> — the </a:t>
            </a:r>
            <a:r>
              <a:rPr b="1"/>
              <a:t>Chamber of Mines of Zimbabwe</a:t>
            </a:r>
            <a:r>
              <a:rPr/>
              <a:t> or </a:t>
            </a:r>
            <a:r>
              <a:rPr b="1"/>
              <a:t>CZI</a:t>
            </a:r>
            <a:r>
              <a:rPr/>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roadmap and the ask</a:t>
            </a:r>
          </a:p>
        </p:txBody>
      </p:sp>
      <p:sp>
        <p:nvSpPr>
          <p:cNvPr id="3" name="Content Placeholder 2"/>
          <p:cNvSpPr>
            <a:spLocks noGrp="1"/>
          </p:cNvSpPr>
          <p:nvPr>
            <p:ph idx="1"/>
          </p:nvPr>
        </p:nvSpPr>
        <p:spPr/>
        <p:txBody>
          <a:bodyPr/>
          <a:lstStyle/>
          <a:p>
            <a:pPr lvl="0"/>
            <a:r>
              <a:rPr b="1"/>
              <a:t>Approve</a:t>
            </a:r>
            <a:r>
              <a:rPr/>
              <a:t> a pilot; </a:t>
            </a:r>
            <a:r>
              <a:rPr b="1"/>
              <a:t>endorse</a:t>
            </a:r>
            <a:r>
              <a:rPr/>
              <a:t> it for Digitalize Zimbabwe; </a:t>
            </a:r>
            <a:r>
              <a:rPr b="1"/>
              <a:t>partner with ZEPARI</a:t>
            </a:r>
            <a:r>
              <a:rPr/>
              <a:t> and </a:t>
            </a:r>
            <a:r>
              <a:rPr b="1"/>
              <a:t>endorse</a:t>
            </a:r>
            <a:r>
              <a:rPr/>
              <a:t> it for ZEPARI’s evidence-based policy work; </a:t>
            </a:r>
            <a:r>
              <a:rPr b="1"/>
              <a:t>fund</a:t>
            </a:r>
            <a:r>
              <a:rPr/>
              <a:t> the licence and the three build steps; </a:t>
            </a:r>
            <a:r>
              <a:rPr b="1"/>
              <a:t>approve Oreida Pvt Ltd running and hosting it</a:t>
            </a:r>
            <a:r>
              <a:rPr/>
              <a:t> under the licence; </a:t>
            </a:r>
            <a:r>
              <a:rPr b="1"/>
              <a:t>name</a:t>
            </a:r>
            <a:r>
              <a:rPr/>
              <a:t> the first institution and policy question.</a:t>
            </a:r>
          </a:p>
          <a:p>
            <a:pPr lvl="0"/>
            <a:r>
              <a:rPr/>
              <a:t>Then: the three build steps → the pilot run → a review of the results → a decision on any wider rollout.</a:t>
            </a:r>
          </a:p>
          <a:p>
            <a:pPr lvl="0"/>
            <a:r>
              <a:rPr b="1"/>
              <a:t>What we could not confirm:</a:t>
            </a:r>
            <a:r>
              <a:rPr/>
              <a:t> the budget envelope and cost-sharing, the approval deadline, the number of institutions to prioritise first, the owning office of the programme, and ZEPARI’s own approval route for endorsing a pilot. </a:t>
            </a:r>
            <a:r>
              <a:rPr b="1"/>
              <a:t>Who to ask:</a:t>
            </a:r>
            <a:r>
              <a:rPr/>
              <a:t> the Cabinet Office and the Ministry’s legal desk; the Ministry of ICT; ZEPARI; and Treasury.</a:t>
            </a:r>
          </a:p>
          <a:p>
            <a:pPr lvl="0"/>
            <a:r>
              <a:rPr b="1"/>
              <a:t>Submitted by Oreida Pvt Ltd — Mr Edmore Zviitwah and Mr Tadii Tendayi.</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2026-10-12T16:09:05Z</dcterms:created>
  <dcterms:modified xsi:type="dcterms:W3CDTF">2026-10-12T16:09:05Z</dcterms:modified>
</cp:coreProperties>
</file>

<file path=docProps/custom.xml><?xml version="1.0" encoding="utf-8"?>
<Properties xmlns="http://schemas.openxmlformats.org/officeDocument/2006/custom-properties" xmlns:vt="http://schemas.openxmlformats.org/officeDocument/2006/docPropsVTypes"/>
</file>